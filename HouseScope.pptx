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Lora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Lora-italic.fntdata"/><Relationship Id="rId10" Type="http://schemas.openxmlformats.org/officeDocument/2006/relationships/font" Target="fonts/Lora-bold.fntdata"/><Relationship Id="rId12" Type="http://schemas.openxmlformats.org/officeDocument/2006/relationships/font" Target="fonts/Lora-boldItalic.fntdata"/><Relationship Id="rId9" Type="http://schemas.openxmlformats.org/officeDocument/2006/relationships/font" Target="fonts/Lo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2fa2bef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2fa2bef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32fa2bef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32fa2bef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2fa2bef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2fa2bef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9525" y="1674975"/>
            <a:ext cx="5441700" cy="828000"/>
          </a:xfrm>
          <a:prstGeom prst="rect">
            <a:avLst/>
          </a:prstGeom>
        </p:spPr>
        <p:txBody>
          <a:bodyPr anchorCtr="0" anchor="b" bIns="83600" lIns="83600" spcFirstLastPara="1" rIns="83600" wrap="square" tIns="836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15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HomeScope</a:t>
            </a:r>
            <a:endParaRPr sz="4115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129525" y="2365992"/>
            <a:ext cx="5441700" cy="528000"/>
          </a:xfrm>
          <a:prstGeom prst="rect">
            <a:avLst/>
          </a:prstGeom>
        </p:spPr>
        <p:txBody>
          <a:bodyPr anchorCtr="0" anchor="b" bIns="83600" lIns="83600" spcFirstLastPara="1" rIns="83600" wrap="square" tIns="836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43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A Smart Inspection Tool</a:t>
            </a:r>
            <a:endParaRPr sz="2743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129525" y="3907103"/>
            <a:ext cx="5441700" cy="528000"/>
          </a:xfrm>
          <a:prstGeom prst="rect">
            <a:avLst/>
          </a:prstGeom>
        </p:spPr>
        <p:txBody>
          <a:bodyPr anchorCtr="0" anchor="b" bIns="83600" lIns="83600" spcFirstLastPara="1" rIns="83600" wrap="square" tIns="836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Lora"/>
                <a:ea typeface="Lora"/>
                <a:cs typeface="Lora"/>
                <a:sym typeface="Lora"/>
              </a:rPr>
              <a:t>Anuj Gupta &amp; Rohit Kottomtharayil</a:t>
            </a:r>
            <a:endParaRPr sz="1829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71501" y="3907103"/>
            <a:ext cx="5157900" cy="19800"/>
          </a:xfrm>
          <a:prstGeom prst="straightConnector1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" name="Google Shape;58;p13" title="ChatGPT Image Mar 28, 2026, 03_46_43 PM.png"/>
          <p:cNvPicPr preferRelativeResize="0"/>
          <p:nvPr/>
        </p:nvPicPr>
        <p:blipFill rotWithShape="1">
          <a:blip r:embed="rId3">
            <a:alphaModFix/>
          </a:blip>
          <a:srcRect b="1447" l="2094" r="1390" t="2055"/>
          <a:stretch/>
        </p:blipFill>
        <p:spPr>
          <a:xfrm>
            <a:off x="5714382" y="0"/>
            <a:ext cx="342961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The Problem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 flipH="1" rot="10800000">
            <a:off x="311700" y="1012025"/>
            <a:ext cx="8530200" cy="11100"/>
          </a:xfrm>
          <a:prstGeom prst="straightConnector1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463675" y="2162250"/>
            <a:ext cx="4763700" cy="1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800" u="sng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25%</a:t>
            </a:r>
            <a:endParaRPr i="1" sz="5800" u="sng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Homebuyers</a:t>
            </a:r>
            <a:br>
              <a:rPr i="1" lang="en" sz="2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i="1" sz="2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Made an offer last year with zero inspection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5398600" y="1328263"/>
            <a:ext cx="0" cy="982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/>
        </p:nvSpPr>
        <p:spPr>
          <a:xfrm>
            <a:off x="5576700" y="1270213"/>
            <a:ext cx="32652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Market Forces Their Hand</a:t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competitive bidding, inspection contingencies can kill the deal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5398600" y="2571738"/>
            <a:ext cx="0" cy="982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 txBox="1"/>
          <p:nvPr/>
        </p:nvSpPr>
        <p:spPr>
          <a:xfrm>
            <a:off x="5576700" y="2507913"/>
            <a:ext cx="32652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Inspections Come Too Late</a:t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Professional inspections </a:t>
            </a: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happens</a:t>
            </a: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after an offer is accepted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5398600" y="3815213"/>
            <a:ext cx="0" cy="982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5576700" y="3745613"/>
            <a:ext cx="32652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The Cost of Not Knowing</a:t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Buyers who waived an inspection </a:t>
            </a: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and discovered issues </a:t>
            </a: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later faced an average cost of $14,000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The Solution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 flipH="1" rot="10800000">
            <a:off x="311700" y="1012025"/>
            <a:ext cx="8530200" cy="11100"/>
          </a:xfrm>
          <a:prstGeom prst="straightConnector1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5"/>
          <p:cNvCxnSpPr/>
          <p:nvPr/>
        </p:nvCxnSpPr>
        <p:spPr>
          <a:xfrm>
            <a:off x="362300" y="1250955"/>
            <a:ext cx="0" cy="870000"/>
          </a:xfrm>
          <a:prstGeom prst="straightConnector1">
            <a:avLst/>
          </a:prstGeom>
          <a:noFill/>
          <a:ln cap="flat" cmpd="sng" w="593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5"/>
          <p:cNvSpPr txBox="1"/>
          <p:nvPr/>
        </p:nvSpPr>
        <p:spPr>
          <a:xfrm>
            <a:off x="456329" y="1239975"/>
            <a:ext cx="34557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2375" lIns="142375" spcFirstLastPara="1" rIns="142375" wrap="square" tIns="14237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6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HomeScope</a:t>
            </a:r>
            <a:endParaRPr b="1" sz="436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98200" y="1985125"/>
            <a:ext cx="79476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Upload your walkthrough video. Get back an annotated version with every defect mapped, costed and ready to negotiate.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62300" y="2859625"/>
            <a:ext cx="1999200" cy="1999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Record</a:t>
            </a:r>
            <a:b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b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60-second walkthrough on your phone. Any camera app. No special equipment.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577200" y="2859625"/>
            <a:ext cx="1999200" cy="1999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Upload</a:t>
            </a:r>
            <a:b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b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Drop the video into HomeScope. Gemini AI analyzes every frame in under 45 seconds.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792100" y="2859625"/>
            <a:ext cx="1999200" cy="1999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155C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1155CC"/>
                </a:solidFill>
                <a:latin typeface="Lora"/>
                <a:ea typeface="Lora"/>
                <a:cs typeface="Lora"/>
                <a:sym typeface="Lora"/>
              </a:rPr>
              <a:t>Get Your Report</a:t>
            </a:r>
            <a:b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b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Annotated video with defects highlighted. Repair costs. Negotiation letter ready.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5"/>
          <p:cNvCxnSpPr>
            <a:endCxn id="82" idx="1"/>
          </p:cNvCxnSpPr>
          <p:nvPr/>
        </p:nvCxnSpPr>
        <p:spPr>
          <a:xfrm>
            <a:off x="2361600" y="3859225"/>
            <a:ext cx="121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82" idx="3"/>
            <a:endCxn id="83" idx="1"/>
          </p:cNvCxnSpPr>
          <p:nvPr/>
        </p:nvCxnSpPr>
        <p:spPr>
          <a:xfrm>
            <a:off x="5576400" y="3859225"/>
            <a:ext cx="121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/>
          <p:nvPr/>
        </p:nvSpPr>
        <p:spPr>
          <a:xfrm>
            <a:off x="2784850" y="3450275"/>
            <a:ext cx="369000" cy="3690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1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999750" y="3450275"/>
            <a:ext cx="369000" cy="3690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2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